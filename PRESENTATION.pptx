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016/j.eswa.2008.02.021" TargetMode="External"/><Relationship Id="rId3" Type="http://schemas.openxmlformats.org/officeDocument/2006/relationships/hyperlink" Target="https://www.taylorfrancis.com/chapters/mono/10.1201/b12040-8/process-model-data-mining%E2%80%94crisp-dm-daniel-putler-robert-krider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rasbt.github.io/mlxtend/user_guide/frequent_patterns/apriori/" TargetMode="External"/><Relationship Id="rId3" Type="http://schemas.openxmlformats.org/officeDocument/2006/relationships/hyperlink" Target="https://rasbt.github.io/mlxtend/user_guide/frequent_patterns/association_rules/" TargetMode="External"/><Relationship Id="rId4" Type="http://schemas.openxmlformats.org/officeDocument/2006/relationships/hyperlink" Target="https://snap.stanford.edu/class/cs224w-readings/Agrawal94AssosiationRule.pdf" TargetMode="External"/><Relationship Id="rId5" Type="http://schemas.openxmlformats.org/officeDocument/2006/relationships/hyperlink" Target="https://dl.acm.org/doi/10.1145/253260.253325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doi.org/10.1155/2018/2643405" TargetMode="External"/><Relationship Id="rId5" Type="http://schemas.openxmlformats.org/officeDocument/2006/relationships/hyperlink" Target="https://doi.org/10.3390/app16041961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cikit-learn.org/stable/modules/generated/sklearn.tree.DecisionTreeRegressor.html" TargetMode="External"/><Relationship Id="rId3" Type="http://schemas.openxmlformats.org/officeDocument/2006/relationships/hyperlink" Target="https://www.taylorfrancis.com/books/mono/10.1201/9781315139470/classification-regression-trees-leo-breiman-jerome-friedman-olshen-charles-stone" TargetMode="External"/><Relationship Id="rId4" Type="http://schemas.openxmlformats.org/officeDocument/2006/relationships/hyperlink" Target="https://arxiv.org/abs/1811.10154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hyperlink" Target="https://arxiv.org/abs/2112.13922" TargetMode="External"/><Relationship Id="rId5" Type="http://schemas.openxmlformats.org/officeDocument/2006/relationships/hyperlink" Target="https://arxiv.org/abs/2212.05155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cikit-learn.org/stable/modules/generated/sklearn.tree.DecisionTreeClassifier.html" TargetMode="External"/><Relationship Id="rId3" Type="http://schemas.openxmlformats.org/officeDocument/2006/relationships/hyperlink" Target="https://scikit-learn.org/stable/modules/model_evaluation.html#classification-metrics" TargetMode="External"/><Relationship Id="rId4" Type="http://schemas.openxmlformats.org/officeDocument/2006/relationships/hyperlink" Target="https://www.taylorfrancis.com/books/mono/10.1201/9781315139470/classification-regression-trees-leo-breiman-jerome-friedman-olshen-charles-stone" TargetMode="External"/><Relationship Id="rId5" Type="http://schemas.openxmlformats.org/officeDocument/2006/relationships/hyperlink" Target="https://arxiv.org/abs/1811.10154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hyperlink" Target="https://doi.org/10.3390/s23156719" TargetMode="External"/><Relationship Id="rId5" Type="http://schemas.openxmlformats.org/officeDocument/2006/relationships/hyperlink" Target="https://arxiv.org/abs/1311.6240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1811.10154" TargetMode="External"/><Relationship Id="rId3" Type="http://schemas.openxmlformats.org/officeDocument/2006/relationships/hyperlink" Target="https://www.kde.cs.uni-kassel.de/wp-content/uploads/lehre/ws2015-16/kdd/files/CRISPWP-0800.pdf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aylorfrancis.com/chapters/mono/10.1201/b12040-8/process-model-data-mining%E2%80%94crisp-dm-daniel-putler-robert-krider" TargetMode="External"/><Relationship Id="rId3" Type="http://schemas.openxmlformats.org/officeDocument/2006/relationships/hyperlink" Target="https://www.kde.cs.uni-kassel.de/wp-content/uploads/lehre/ws2015-16/kdd/files/CRISPWP-0800.pdf" TargetMode="External"/><Relationship Id="rId4" Type="http://schemas.openxmlformats.org/officeDocument/2006/relationships/hyperlink" Target="https://snap.stanford.edu/class/cs224w-readings/Agrawal94AssosiationRule.pdf" TargetMode="External"/><Relationship Id="rId5" Type="http://schemas.openxmlformats.org/officeDocument/2006/relationships/hyperlink" Target="https://dl.acm.org/doi/10.1145/253260.253325" TargetMode="External"/><Relationship Id="rId6" Type="http://schemas.openxmlformats.org/officeDocument/2006/relationships/hyperlink" Target="https://arxiv.org/abs/1907.09535" TargetMode="External"/><Relationship Id="rId7" Type="http://schemas.openxmlformats.org/officeDocument/2006/relationships/hyperlink" Target="https://doi.org/10.1155/2018/2643405" TargetMode="External"/><Relationship Id="rId8" Type="http://schemas.openxmlformats.org/officeDocument/2006/relationships/hyperlink" Target="https://doi.org/10.3390/app16041961" TargetMode="External"/><Relationship Id="rId9" Type="http://schemas.openxmlformats.org/officeDocument/2006/relationships/hyperlink" Target="https://www.taylorfrancis.com/books/mono/10.1201/9781315139470/classification-regression-trees-leo-breiman-jerome-friedman-olshen-charles-stone" TargetMode="External"/><Relationship Id="rId10" Type="http://schemas.openxmlformats.org/officeDocument/2006/relationships/hyperlink" Target="https://arxiv.org/abs/1811.10154" TargetMode="External"/><Relationship Id="rId11" Type="http://schemas.openxmlformats.org/officeDocument/2006/relationships/hyperlink" Target="https://arxiv.org/abs/2112.13922" TargetMode="External"/><Relationship Id="rId12" Type="http://schemas.openxmlformats.org/officeDocument/2006/relationships/hyperlink" Target="https://arxiv.org/abs/2212.05155" TargetMode="External"/><Relationship Id="rId13" Type="http://schemas.openxmlformats.org/officeDocument/2006/relationships/hyperlink" Target="https://doi.org/10.3390/s23156719" TargetMode="External"/><Relationship Id="rId14" Type="http://schemas.openxmlformats.org/officeDocument/2006/relationships/hyperlink" Target="https://arxiv.org/abs/1311.6240" TargetMode="External"/><Relationship Id="rId15" Type="http://schemas.openxmlformats.org/officeDocument/2006/relationships/hyperlink" Target="https://doi.org/10.1016/j.eswa.2008.02.021" TargetMode="External"/><Relationship Id="rId16" Type="http://schemas.openxmlformats.org/officeDocument/2006/relationships/hyperlink" Target="https://scikit-learn.org/stable/modules/tree.html" TargetMode="External"/><Relationship Id="rId17" Type="http://schemas.openxmlformats.org/officeDocument/2006/relationships/hyperlink" Target="https://rasbt.github.io/mlxtend/user_guide/frequent_patterns/apriori/" TargetMode="External"/><Relationship Id="rId18" Type="http://schemas.openxmlformats.org/officeDocument/2006/relationships/hyperlink" Target="https://pandas.pydata.org/docs/" TargetMode="External"/><Relationship Id="rId19" Type="http://schemas.openxmlformats.org/officeDocument/2006/relationships/hyperlink" Target="https://jupyter.org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45720"/>
          </a:xfrm>
          <a:prstGeom prst="rect">
            <a:avLst/>
          </a:prstGeom>
          <a:solidFill>
            <a:srgbClr val="2E5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5FA1"/>
                </a:solidFill>
                <a:latin typeface="Calibri"/>
              </a:rPr>
              <a:t>VACUTECH · PHASE 2 · BUSINESS INTELLIGENCE &amp; DATA MINING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Calibri"/>
              </a:rPr>
              <a:t>From RMAs to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1F5F9"/>
                </a:solidFill>
                <a:latin typeface="Calibri"/>
              </a:rPr>
              <a:t>Three CRM questions, three transparent data-mining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Calibri"/>
              </a:rPr>
              <a:t>Course module: DLMDSEBA02  •  Composite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114800"/>
            <a:ext cx="3566160" cy="1645920"/>
          </a:xfrm>
          <a:prstGeom prst="rect">
            <a:avLst/>
          </a:prstGeom>
          <a:solidFill>
            <a:srgbClr val="29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114800"/>
            <a:ext cx="91440" cy="1645920"/>
          </a:xfrm>
          <a:prstGeom prst="rect">
            <a:avLst/>
          </a:prstGeom>
          <a:solidFill>
            <a:srgbClr val="2E5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W1 · Apriori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8006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Calibri"/>
              </a:rPr>
              <a:t>24 rules from 2974 PM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2120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4C2DB"/>
                </a:solidFill>
                <a:latin typeface="Calibri"/>
              </a:rPr>
              <a:t>Pareto: 20 SKUs cover ≈80%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4114800"/>
            <a:ext cx="3566160" cy="1645920"/>
          </a:xfrm>
          <a:prstGeom prst="rect">
            <a:avLst/>
          </a:prstGeom>
          <a:solidFill>
            <a:srgbClr val="29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4114800"/>
            <a:ext cx="91440" cy="1645920"/>
          </a:xfrm>
          <a:prstGeom prst="rect">
            <a:avLst/>
          </a:prstGeom>
          <a:solidFill>
            <a:srgbClr val="2E5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42976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W2 · Decision Tree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48006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Calibri"/>
              </a:rPr>
              <a:t>R² = 0.93 on 2000 test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52120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4C2DB"/>
                </a:solidFill>
                <a:latin typeface="Calibri"/>
              </a:rPr>
              <a:t>MAE ≈ 1.07 days at intake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4114800"/>
            <a:ext cx="3566160" cy="1645920"/>
          </a:xfrm>
          <a:prstGeom prst="rect">
            <a:avLst/>
          </a:prstGeom>
          <a:solidFill>
            <a:srgbClr val="29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4114800"/>
            <a:ext cx="91440" cy="1645920"/>
          </a:xfrm>
          <a:prstGeom prst="rect">
            <a:avLst/>
          </a:prstGeom>
          <a:solidFill>
            <a:srgbClr val="2E5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42976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W3 · DT classifier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8006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Calibri"/>
              </a:rPr>
              <a:t>Threshold = 0.3, recall 49%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2120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4C2DB"/>
                </a:solidFill>
                <a:latin typeface="Calibri"/>
              </a:rPr>
              <a:t>Accuracy 85% on 2000 test cases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4C2DB"/>
                </a:solidFill>
                <a:latin typeface="Calibri"/>
              </a:rPr>
              <a:t>All KPIs are read live from exports/metrics_summary.json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CRM tasks and the data-mining toolbox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Customer Relationship Management aims to identify, attract, retain and develop customers. Data mining supports each of these CRM tasks with a different family of algorithms¹⁾¹⁴. VacuTech's three W questions sit on the retention and development side: stock the right parts, make credible promises, and prevent rework before customers feel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31720"/>
            <a:ext cx="5394960" cy="1417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109728" cy="1417320"/>
          </a:xfrm>
          <a:prstGeom prst="rect">
            <a:avLst/>
          </a:prstGeom>
          <a:solidFill>
            <a:srgbClr val="2E5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Customer Identification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Segmentation, target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5FA1"/>
                </a:solidFill>
                <a:latin typeface="Calibri"/>
              </a:rPr>
              <a:t>DM family: Clustering, classification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331720"/>
            <a:ext cx="5394960" cy="1417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2331720"/>
            <a:ext cx="109728" cy="1417320"/>
          </a:xfrm>
          <a:prstGeom prst="rect">
            <a:avLst/>
          </a:prstGeom>
          <a:solidFill>
            <a:srgbClr val="2E5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468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Customer Attraction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834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Direct marketing, lead scoring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00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5FA1"/>
                </a:solidFill>
                <a:latin typeface="Calibri"/>
              </a:rPr>
              <a:t>DM family: Classification, association rules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5394960" cy="1417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109728" cy="1417320"/>
          </a:xfrm>
          <a:prstGeom prst="rect">
            <a:avLst/>
          </a:prstGeom>
          <a:solidFill>
            <a:srgbClr val="2E5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Customer 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34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Service quality, churn, complaint triage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00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5FA1"/>
                </a:solidFill>
                <a:latin typeface="Calibri"/>
              </a:rPr>
              <a:t>DM family: Classification (DT), regression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3931920"/>
            <a:ext cx="5394960" cy="1417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3931920"/>
            <a:ext cx="109728" cy="1417320"/>
          </a:xfrm>
          <a:prstGeom prst="rect">
            <a:avLst/>
          </a:prstGeom>
          <a:solidFill>
            <a:srgbClr val="2E5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Customer Development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434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Cross-/up-sell, lifetime value, bundling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800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5FA1"/>
                </a:solidFill>
                <a:latin typeface="Calibri"/>
              </a:rPr>
              <a:t>DM family: Association rules, regression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40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Calibri"/>
              </a:rPr>
              <a:t>VacuTech mapping  •  W1 → Customer Development (parts bundling)   •  W2 → Customer Retention (credible ETAs)   •  W3 → Customer Retention (QA-failure prevention)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2E5FA1"/>
                </a:solidFill>
                <a:latin typeface="Calibri"/>
              </a:rPr>
              <a:t>¹⁴ </a:t>
            </a:r>
            <a:r>
              <a:rPr sz="1000" b="0" u="sng">
                <a:solidFill>
                  <a:srgbClr val="475569"/>
                </a:solidFill>
                <a:latin typeface="Calibri"/>
                <a:hlinkClick r:id="rId2"/>
              </a:rPr>
              <a:t>Ngai et al. 2009</a:t>
            </a:r>
            <a:r>
              <a:rPr sz="1000"/>
              <a:t>   </a:t>
            </a:r>
            <a:r>
              <a:rPr sz="1100" b="1">
                <a:solidFill>
                  <a:srgbClr val="2E5FA1"/>
                </a:solidFill>
                <a:latin typeface="Calibri"/>
              </a:rPr>
              <a:t>¹ </a:t>
            </a:r>
            <a:r>
              <a:rPr sz="1000" b="0" u="sng">
                <a:solidFill>
                  <a:srgbClr val="475569"/>
                </a:solidFill>
                <a:latin typeface="Calibri"/>
                <a:hlinkClick r:id="rId3"/>
              </a:rPr>
              <a:t>Shearer 2000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VacuTech · DLMDSEBA02 · BI &amp; Data Mining (Phase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WORK PACKAGE 1 · INVENTORY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Which add-on parts should be stocked or bundled for PM visits?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E5FA1"/>
                </a:solidFill>
                <a:latin typeface="Calibri"/>
              </a:rPr>
              <a:t>Business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760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B2A4A"/>
                </a:solidFill>
                <a:latin typeface="Calibri"/>
              </a:rPr>
              <a:t>During preventive-maintenance jobs, technicians often consume parts that are NOT in the standard PM kit — forcing a second trip and eroding customer trust. We want a short, ranked stocking shortlist and a set of bundle rules a planner can act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E5FA1"/>
                </a:solidFill>
                <a:latin typeface="Calibri"/>
              </a:rPr>
              <a:t>Data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57607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E5FA1"/>
                </a:solidFill>
                <a:latin typeface="Calibri"/>
              </a:rPr>
              <a:t>●  </a:t>
            </a:r>
            <a:r>
              <a:rPr sz="1300">
                <a:solidFill>
                  <a:srgbClr val="475569"/>
                </a:solidFill>
                <a:latin typeface="Calibri"/>
              </a:rPr>
              <a:t>538 PM cases from repairs.csv (maintenance_kit_applied = 1)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E5FA1"/>
                </a:solidFill>
                <a:latin typeface="Calibri"/>
              </a:rPr>
              <a:t>●  </a:t>
            </a:r>
            <a:r>
              <a:rPr sz="1300">
                <a:solidFill>
                  <a:srgbClr val="475569"/>
                </a:solidFill>
                <a:latin typeface="Calibri"/>
              </a:rPr>
              <a:t>Add-on lines from parts_used.csv (kit_part_flag = 0)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E5FA1"/>
                </a:solidFill>
                <a:latin typeface="Calibri"/>
              </a:rPr>
              <a:t>●  </a:t>
            </a:r>
            <a:r>
              <a:rPr sz="1300">
                <a:solidFill>
                  <a:srgbClr val="475569"/>
                </a:solidFill>
                <a:latin typeface="Calibri"/>
              </a:rPr>
              <a:t>Pivoted into a boolean basket matrix: 538 cases x 36 add-on parts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E5FA1"/>
                </a:solidFill>
                <a:latin typeface="Calibri"/>
              </a:rPr>
              <a:t>●  </a:t>
            </a:r>
            <a:r>
              <a:rPr sz="1300">
                <a:solidFill>
                  <a:srgbClr val="475569"/>
                </a:solidFill>
                <a:latin typeface="Calibri"/>
              </a:rPr>
              <a:t>No imputation, no scaling — Apriori works on boolean baskets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143000"/>
            <a:ext cx="525780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143000"/>
            <a:ext cx="109728" cy="4572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2801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Apriori association rules + Pareto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691640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Apriori (mlxtend) discovers frequent co-occurring add-on parts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Rules ranked by lift, retained when lift exceeds independence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Pareto chart on part counts complements rules with a SKU shortlist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2461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5FA1"/>
                </a:solidFill>
                <a:latin typeface="Calibri"/>
              </a:rPr>
              <a:t>Fixed hyperparameters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56616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min_support = 0.05  (≈ 25-50 baskets at this dataset size)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min_lift = 1.2  (meaningfully stronger than chance)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Outputs: w1_rules.csv, w1_metrics.json, two PNG charts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8463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5FA1"/>
                </a:solidFill>
                <a:latin typeface="Calibri"/>
              </a:rPr>
              <a:t>Frameworks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5166360"/>
            <a:ext cx="493776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b="0" u="sng">
                <a:solidFill>
                  <a:srgbClr val="2E5FA1"/>
                </a:solidFill>
                <a:latin typeface="Calibri"/>
                <a:hlinkClick r:id="rId2"/>
              </a:rPr>
              <a:t>mlxtend.apriori</a:t>
            </a:r>
            <a:r>
              <a:rPr sz="1100">
                <a:solidFill>
                  <a:srgbClr val="475569"/>
                </a:solidFill>
              </a:rPr>
              <a:t>   ·   </a:t>
            </a:r>
            <a:r>
              <a:rPr sz="1100" b="0" u="sng">
                <a:solidFill>
                  <a:srgbClr val="2E5FA1"/>
                </a:solidFill>
                <a:latin typeface="Calibri"/>
                <a:hlinkClick r:id="rId3"/>
              </a:rPr>
              <a:t>mlxtend.association_rules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2E5FA1"/>
                </a:solidFill>
                <a:latin typeface="Calibri"/>
              </a:rPr>
              <a:t>³ </a:t>
            </a:r>
            <a:r>
              <a:rPr sz="1000" b="0" u="sng">
                <a:solidFill>
                  <a:srgbClr val="475569"/>
                </a:solidFill>
                <a:latin typeface="Calibri"/>
                <a:hlinkClick r:id="rId4"/>
              </a:rPr>
              <a:t>Agrawal &amp; Srikant 1994</a:t>
            </a:r>
            <a:r>
              <a:rPr sz="1000"/>
              <a:t>   </a:t>
            </a:r>
            <a:r>
              <a:rPr sz="1100" b="1">
                <a:solidFill>
                  <a:srgbClr val="2E5FA1"/>
                </a:solidFill>
                <a:latin typeface="Calibri"/>
              </a:rPr>
              <a:t>⁴ </a:t>
            </a:r>
            <a:r>
              <a:rPr sz="1000" b="0" u="sng">
                <a:solidFill>
                  <a:srgbClr val="475569"/>
                </a:solidFill>
                <a:latin typeface="Calibri"/>
                <a:hlinkClick r:id="rId5"/>
              </a:rPr>
              <a:t>Brin et al. 1997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VacuTech · DLMDSEBA02 · BI &amp; Data Mining (Phase 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WORK PACKAGE 1 ·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Predictive stocking shortlist + direct bundling rules</a:t>
            </a:r>
          </a:p>
        </p:txBody>
      </p:sp>
      <p:pic>
        <p:nvPicPr>
          <p:cNvPr id="5" name="Picture 4" descr="w1_top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3200400"/>
          </a:xfrm>
          <a:prstGeom prst="rect">
            <a:avLst/>
          </a:prstGeom>
        </p:spPr>
      </p:pic>
      <p:pic>
        <p:nvPicPr>
          <p:cNvPr id="6" name="Picture 5" descr="w1_pa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88720"/>
            <a:ext cx="5486400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4526280"/>
            <a:ext cx="2727198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99432"/>
            <a:ext cx="245287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FA1"/>
                </a:solidFill>
                <a:latin typeface="Calibri"/>
              </a:rPr>
              <a:t>Bundle Rules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73752"/>
            <a:ext cx="24528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5838" y="4526280"/>
            <a:ext cx="2727198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8718" y="4599432"/>
            <a:ext cx="245287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FA1"/>
                </a:solidFill>
                <a:latin typeface="Calibri"/>
              </a:rPr>
              <a:t>Rule Strength (Lift)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8718" y="4873752"/>
            <a:ext cx="24528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18.6x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4476" y="4526280"/>
            <a:ext cx="2727198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7356" y="4599432"/>
            <a:ext cx="245287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FA1"/>
                </a:solidFill>
                <a:latin typeface="Calibri"/>
              </a:rPr>
              <a:t>Bundling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4873752"/>
            <a:ext cx="24528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100%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3114" y="4526280"/>
            <a:ext cx="2727198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5994" y="4599432"/>
            <a:ext cx="245287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FA1"/>
                </a:solidFill>
                <a:latin typeface="Calibri"/>
              </a:rPr>
              <a:t>80% / 90% SKU Headcount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5994" y="4873752"/>
            <a:ext cx="24528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20 / 26 SKUs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406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E5FA1"/>
                </a:solidFill>
                <a:latin typeface="Calibri"/>
              </a:rPr>
              <a:t>Management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440680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Stock the top 20 high-demand add-on parts at every regional warehouse to satisfy 80% of extra demand.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Bundle complementary wear-and-tear parts (e.g. O-rings + Seals) directly into standard PM kits.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Verify first-visit completion rates before vs. after roll-out to measure customer satisfaction gains.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2E5FA1"/>
                </a:solidFill>
                <a:latin typeface="Calibri"/>
              </a:rPr>
              <a:t>⁶ </a:t>
            </a:r>
            <a:r>
              <a:rPr sz="1000" b="0" u="sng">
                <a:solidFill>
                  <a:srgbClr val="475569"/>
                </a:solidFill>
                <a:latin typeface="Calibri"/>
                <a:hlinkClick r:id="rId4"/>
              </a:rPr>
              <a:t>Wang et al. 2018</a:t>
            </a:r>
            <a:r>
              <a:rPr sz="1000"/>
              <a:t>   </a:t>
            </a:r>
            <a:r>
              <a:rPr sz="1100" b="1">
                <a:solidFill>
                  <a:srgbClr val="2E5FA1"/>
                </a:solidFill>
                <a:latin typeface="Calibri"/>
              </a:rPr>
              <a:t>⁷ </a:t>
            </a:r>
            <a:r>
              <a:rPr sz="1000" b="0" u="sng">
                <a:solidFill>
                  <a:srgbClr val="475569"/>
                </a:solidFill>
                <a:latin typeface="Calibri"/>
                <a:hlinkClick r:id="rId5"/>
              </a:rPr>
              <a:t>Didriksen et al.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VacuTech · DLMDSEBA02 · BI &amp; Data Mining (Phase 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WORK PACKAGE 2 · REPAIR DURATION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At intake, how long will this repair take?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E5FA1"/>
                </a:solidFill>
                <a:latin typeface="Calibri"/>
              </a:rPr>
              <a:t>Business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760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B2A4A"/>
                </a:solidFill>
                <a:latin typeface="Calibri"/>
              </a:rPr>
              <a:t>The service planner must commit to a reliable repair completion date. The prediction model must use only safe, intake-time features (no QA or completion fields) and stay fully explainable to a front-desk advisor.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E5FA1"/>
                </a:solidFill>
                <a:latin typeface="Calibri"/>
              </a:rPr>
              <a:t>Data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57607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E5FA1"/>
                </a:solidFill>
                <a:latin typeface="Calibri"/>
              </a:rPr>
              <a:t>●  </a:t>
            </a:r>
            <a:r>
              <a:rPr sz="1300">
                <a:solidFill>
                  <a:srgbClr val="475569"/>
                </a:solidFill>
                <a:latin typeface="Calibri"/>
              </a:rPr>
              <a:t>Target: Actual Repair Duration (in Days)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E5FA1"/>
                </a:solidFill>
                <a:latin typeface="Calibri"/>
              </a:rPr>
              <a:t>●  </a:t>
            </a:r>
            <a:r>
              <a:rPr sz="1300">
                <a:solidFill>
                  <a:srgbClr val="475569"/>
                </a:solidFill>
                <a:latin typeface="Calibri"/>
              </a:rPr>
              <a:t>Predictors: Pump age, technician experience, estimated parts cost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E5FA1"/>
                </a:solidFill>
                <a:latin typeface="Calibri"/>
              </a:rPr>
              <a:t>●  </a:t>
            </a:r>
            <a:r>
              <a:rPr sz="1300">
                <a:solidFill>
                  <a:srgbClr val="475569"/>
                </a:solidFill>
                <a:latin typeface="Calibri"/>
              </a:rPr>
              <a:t>Job Info: Specific pump model, failure category, complexity level, region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E5FA1"/>
                </a:solidFill>
                <a:latin typeface="Calibri"/>
              </a:rPr>
              <a:t>●  </a:t>
            </a:r>
            <a:r>
              <a:rPr sz="1300">
                <a:solidFill>
                  <a:srgbClr val="475569"/>
                </a:solidFill>
                <a:latin typeface="Calibri"/>
              </a:rPr>
              <a:t>Preparation: Clean incomplete records + format categorical groups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143000"/>
            <a:ext cx="525780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143000"/>
            <a:ext cx="109728" cy="4572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2801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Decision Tree Regressor (Whitebox AI)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691640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Fully transparent method — logic splits readable on a whiteboard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Decision paths trace exactly how job drivers add up to the ETA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Evaluated on a completely separate, held-out test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2461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5FA1"/>
                </a:solidFill>
                <a:latin typeface="Calibri"/>
              </a:rPr>
              <a:t>Fixed hyperparameters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56616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max_depth = 6  (captures age x complexity interactions without over-fitting)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min_samples_leaf = 20  (≥ 20 historic cases per decision path)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random_state = 7  (fully repeatable and auditable models)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8463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5FA1"/>
                </a:solidFill>
                <a:latin typeface="Calibri"/>
              </a:rPr>
              <a:t>Frameworks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5166360"/>
            <a:ext cx="493776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b="0" u="sng">
                <a:solidFill>
                  <a:srgbClr val="2E5FA1"/>
                </a:solidFill>
                <a:latin typeface="Calibri"/>
                <a:hlinkClick r:id="rId2"/>
              </a:rPr>
              <a:t>scikit-learn DecisionTreeRegressor</a:t>
            </a:r>
            <a:r>
              <a:rPr sz="1100">
                <a:solidFill>
                  <a:srgbClr val="475569"/>
                </a:solidFill>
              </a:rPr>
              <a:t>   ·   </a:t>
            </a:r>
            <a:r>
              <a:rPr sz="1100" b="0" u="sng">
                <a:solidFill>
                  <a:srgbClr val="2E5FA1"/>
                </a:solidFill>
                <a:latin typeface="Calibri"/>
                <a:hlinkClick r:id="rId3"/>
              </a:rPr>
              <a:t>CART (Breiman et al. 1984)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2E5FA1"/>
                </a:solidFill>
                <a:latin typeface="Calibri"/>
              </a:rPr>
              <a:t>⁸ </a:t>
            </a:r>
            <a:r>
              <a:rPr sz="1000" b="0" u="sng">
                <a:solidFill>
                  <a:srgbClr val="475569"/>
                </a:solidFill>
                <a:latin typeface="Calibri"/>
                <a:hlinkClick r:id="rId3"/>
              </a:rPr>
              <a:t>Breiman et al. 1984</a:t>
            </a:r>
            <a:r>
              <a:rPr sz="1000"/>
              <a:t>   </a:t>
            </a:r>
            <a:r>
              <a:rPr sz="1100" b="1">
                <a:solidFill>
                  <a:srgbClr val="2E5FA1"/>
                </a:solidFill>
                <a:latin typeface="Calibri"/>
              </a:rPr>
              <a:t>⁹ </a:t>
            </a:r>
            <a:r>
              <a:rPr sz="1000" b="0" u="sng">
                <a:solidFill>
                  <a:srgbClr val="475569"/>
                </a:solidFill>
                <a:latin typeface="Calibri"/>
                <a:hlinkClick r:id="rId4"/>
              </a:rPr>
              <a:t>Rudin 2019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VacuTech · DLMDSEBA02 · BI &amp; Data Mining (Phase 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WORK PACKAGE 2 ·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Usable intake-time ETAs — publish as a tailored range</a:t>
            </a:r>
          </a:p>
        </p:txBody>
      </p:sp>
      <p:pic>
        <p:nvPicPr>
          <p:cNvPr id="5" name="Picture 4" descr="w2_actual_vs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3200400"/>
          </a:xfrm>
          <a:prstGeom prst="rect">
            <a:avLst/>
          </a:prstGeom>
        </p:spPr>
      </p:pic>
      <p:pic>
        <p:nvPicPr>
          <p:cNvPr id="6" name="Picture 5" descr="w2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88720"/>
            <a:ext cx="5486400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4526280"/>
            <a:ext cx="2727198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99432"/>
            <a:ext cx="245287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FA1"/>
                </a:solidFill>
                <a:latin typeface="Calibri"/>
              </a:rPr>
              <a:t>Model Reliability (R²)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73752"/>
            <a:ext cx="24528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92.7%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5838" y="4526280"/>
            <a:ext cx="2727198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8718" y="4599432"/>
            <a:ext cx="245287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FA1"/>
                </a:solidFill>
                <a:latin typeface="Calibri"/>
              </a:rPr>
              <a:t>Avg. Prediction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8718" y="4873752"/>
            <a:ext cx="24528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1.1 Days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4476" y="4526280"/>
            <a:ext cx="2727198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7356" y="4599432"/>
            <a:ext cx="245287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FA1"/>
                </a:solidFill>
                <a:latin typeface="Calibri"/>
              </a:rPr>
              <a:t>Risk Buffer Margin (RMSE)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4873752"/>
            <a:ext cx="24528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2.2 Days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3114" y="4526280"/>
            <a:ext cx="2727198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5994" y="4599432"/>
            <a:ext cx="245287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FA1"/>
                </a:solidFill>
                <a:latin typeface="Calibri"/>
              </a:rPr>
              <a:t>Repairs Analyzed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5994" y="4873752"/>
            <a:ext cx="24528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10000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406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E5FA1"/>
                </a:solidFill>
                <a:latin typeface="Calibri"/>
              </a:rPr>
              <a:t>Management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440680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Publish a standard ±1-day delivery window on the receipt for predictable repairs (e.g. Overheating).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Route highly unpredictable repairs ('Control electronics' and 'Seal/Leak') to senior staff and quote a wider ±4-day window.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Standardize repair procedures for high-variance failure categories to systematically reduce scheduling errors.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2E5FA1"/>
                </a:solidFill>
                <a:latin typeface="Calibri"/>
              </a:rPr>
              <a:t>¹⁰ </a:t>
            </a:r>
            <a:r>
              <a:rPr sz="1000" b="0" u="sng">
                <a:solidFill>
                  <a:srgbClr val="475569"/>
                </a:solidFill>
                <a:latin typeface="Calibri"/>
                <a:hlinkClick r:id="rId4"/>
              </a:rPr>
              <a:t>Jang et al. 2021</a:t>
            </a:r>
            <a:r>
              <a:rPr sz="1000"/>
              <a:t>   </a:t>
            </a:r>
            <a:r>
              <a:rPr sz="1100" b="1">
                <a:solidFill>
                  <a:srgbClr val="2E5FA1"/>
                </a:solidFill>
                <a:latin typeface="Calibri"/>
              </a:rPr>
              <a:t>¹¹ </a:t>
            </a:r>
            <a:r>
              <a:rPr sz="1000" b="0" u="sng">
                <a:solidFill>
                  <a:srgbClr val="475569"/>
                </a:solidFill>
                <a:latin typeface="Calibri"/>
                <a:hlinkClick r:id="rId5"/>
              </a:rPr>
              <a:t>Ding et al. 2022 · Acela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VacuTech · DLMDSEBA02 · BI &amp; Data Mining (Phase 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WORK PACKAGE 3 · QA-FAILURE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Which repairs deserve a closer pre-QA look?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E5FA1"/>
                </a:solidFill>
                <a:latin typeface="Calibri"/>
              </a:rPr>
              <a:t>Business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760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B2A4A"/>
                </a:solidFill>
                <a:latin typeface="Calibri"/>
              </a:rPr>
              <a:t>Before signing off a repair, operations needs an automated alert system. The model must calculate failure risk at intake and trigger a review flag, balancing QA team capacity against quality goals.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E5FA1"/>
                </a:solidFill>
                <a:latin typeface="Calibri"/>
              </a:rPr>
              <a:t>Data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57607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E5FA1"/>
                </a:solidFill>
                <a:latin typeface="Calibri"/>
              </a:rPr>
              <a:t>●  </a:t>
            </a:r>
            <a:r>
              <a:rPr sz="1300">
                <a:solidFill>
                  <a:srgbClr val="475569"/>
                </a:solidFill>
                <a:latin typeface="Calibri"/>
              </a:rPr>
              <a:t>Target: QA Inspection Failure Flag (historical rate ≈13%)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E5FA1"/>
                </a:solidFill>
                <a:latin typeface="Calibri"/>
              </a:rPr>
              <a:t>●  </a:t>
            </a:r>
            <a:r>
              <a:rPr sz="1300">
                <a:solidFill>
                  <a:srgbClr val="475569"/>
                </a:solidFill>
                <a:latin typeface="Calibri"/>
              </a:rPr>
              <a:t>Predictors: Pump age, technician experience, estimated parts cost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E5FA1"/>
                </a:solidFill>
                <a:latin typeface="Calibri"/>
              </a:rPr>
              <a:t>●  </a:t>
            </a:r>
            <a:r>
              <a:rPr sz="1300">
                <a:solidFill>
                  <a:srgbClr val="475569"/>
                </a:solidFill>
                <a:latin typeface="Calibri"/>
              </a:rPr>
              <a:t>Job Info: Specific pump model, complexity class, failure type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E5FA1"/>
                </a:solidFill>
                <a:latin typeface="Calibri"/>
              </a:rPr>
              <a:t>●  </a:t>
            </a:r>
            <a:r>
              <a:rPr sz="1300">
                <a:solidFill>
                  <a:srgbClr val="475569"/>
                </a:solidFill>
                <a:latin typeface="Calibri"/>
              </a:rPr>
              <a:t>Preparation: Stratified data split to keep failure rates fully representative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143000"/>
            <a:ext cx="525780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143000"/>
            <a:ext cx="109728" cy="4572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2801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Decision Tree Classifier + fixed 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691640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Calculate failure risk probability -&gt; trigger alert at 30% risk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Clear trigger threshold = highly governable dashboard flag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Evaluated by: failures successfully caught vs review workload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2461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5FA1"/>
                </a:solidFill>
                <a:latin typeface="Calibri"/>
              </a:rPr>
              <a:t>Fixed hyperparameters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56616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max_depth = 6 ; min_samples_leaf = 20 ; random_state = 7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Alert Trigger Threshold = 30% (optimized for shop review capacity)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Stratification active to preserve natural 13% failure rate in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8463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5FA1"/>
                </a:solidFill>
                <a:latin typeface="Calibri"/>
              </a:rPr>
              <a:t>Frameworks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5166360"/>
            <a:ext cx="493776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b="0" u="sng">
                <a:solidFill>
                  <a:srgbClr val="2E5FA1"/>
                </a:solidFill>
                <a:latin typeface="Calibri"/>
                <a:hlinkClick r:id="rId2"/>
              </a:rPr>
              <a:t>scikit-learn DecisionTreeClassifier</a:t>
            </a:r>
            <a:r>
              <a:rPr sz="1100">
                <a:solidFill>
                  <a:srgbClr val="475569"/>
                </a:solidFill>
              </a:rPr>
              <a:t>   ·   </a:t>
            </a:r>
            <a:r>
              <a:rPr sz="1100" b="0" u="sng">
                <a:solidFill>
                  <a:srgbClr val="2E5FA1"/>
                </a:solidFill>
                <a:latin typeface="Calibri"/>
                <a:hlinkClick r:id="rId3"/>
              </a:rPr>
              <a:t>Imbalanced classification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2E5FA1"/>
                </a:solidFill>
                <a:latin typeface="Calibri"/>
              </a:rPr>
              <a:t>⁸ </a:t>
            </a:r>
            <a:r>
              <a:rPr sz="1000" b="0" u="sng">
                <a:solidFill>
                  <a:srgbClr val="475569"/>
                </a:solidFill>
                <a:latin typeface="Calibri"/>
                <a:hlinkClick r:id="rId4"/>
              </a:rPr>
              <a:t>Breiman et al. 1984</a:t>
            </a:r>
            <a:r>
              <a:rPr sz="1000"/>
              <a:t>   </a:t>
            </a:r>
            <a:r>
              <a:rPr sz="1100" b="1">
                <a:solidFill>
                  <a:srgbClr val="2E5FA1"/>
                </a:solidFill>
                <a:latin typeface="Calibri"/>
              </a:rPr>
              <a:t>⁹ </a:t>
            </a:r>
            <a:r>
              <a:rPr sz="1000" b="0" u="sng">
                <a:solidFill>
                  <a:srgbClr val="475569"/>
                </a:solidFill>
                <a:latin typeface="Calibri"/>
                <a:hlinkClick r:id="rId5"/>
              </a:rPr>
              <a:t>Rudin 2019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VacuTech · DLMDSEBA02 · BI &amp; Data Mining (Phase 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WORK PACKAGE 3 ·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Triage high-risk pump models 'T1200' and 'G400D'</a:t>
            </a:r>
          </a:p>
        </p:txBody>
      </p:sp>
      <p:pic>
        <p:nvPicPr>
          <p:cNvPr id="5" name="Picture 4" descr="w3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3200400"/>
          </a:xfrm>
          <a:prstGeom prst="rect">
            <a:avLst/>
          </a:prstGeom>
        </p:spPr>
      </p:pic>
      <p:pic>
        <p:nvPicPr>
          <p:cNvPr id="6" name="Picture 5" descr="w3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88720"/>
            <a:ext cx="5486400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4526280"/>
            <a:ext cx="2727198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99432"/>
            <a:ext cx="245287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FA1"/>
                </a:solidFill>
                <a:latin typeface="Calibri"/>
              </a:rPr>
              <a:t>Failures Caught (Recall)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73752"/>
            <a:ext cx="24528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49%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5838" y="4526280"/>
            <a:ext cx="2727198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8718" y="4599432"/>
            <a:ext cx="245287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FA1"/>
                </a:solidFill>
                <a:latin typeface="Calibri"/>
              </a:rPr>
              <a:t>Alert Accuracy (Precision)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8718" y="4873752"/>
            <a:ext cx="24528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43%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4476" y="4526280"/>
            <a:ext cx="2727198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7356" y="4599432"/>
            <a:ext cx="245287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FA1"/>
                </a:solidFill>
                <a:latin typeface="Calibri"/>
              </a:rPr>
              <a:t>Overall Triage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4873752"/>
            <a:ext cx="24528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85%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3114" y="4526280"/>
            <a:ext cx="2727198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5994" y="4599432"/>
            <a:ext cx="245287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FA1"/>
                </a:solidFill>
                <a:latin typeface="Calibri"/>
              </a:rPr>
              <a:t>Risk Trigger Threshold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5994" y="4873752"/>
            <a:ext cx="24528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406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E5FA1"/>
                </a:solidFill>
                <a:latin typeface="Calibri"/>
              </a:rPr>
              <a:t>Management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440680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Route flagged jobs and high-risk pump models 'T1200' and 'G400D' through a mandatory senior tech pre-QA check.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Use the risk flag to intercept 49% of all pre-QA failures early, keeping extra review workload below 15%.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>
                <a:solidFill>
                  <a:srgbClr val="2E5FA1"/>
                </a:solidFill>
                <a:latin typeface="Calibri"/>
              </a:rPr>
              <a:t>●  </a:t>
            </a:r>
            <a:r>
              <a:rPr sz="1200">
                <a:solidFill>
                  <a:srgbClr val="475569"/>
                </a:solidFill>
                <a:latin typeface="Calibri"/>
              </a:rPr>
              <a:t>Run low-risk pump models ('G200D', 'R300') on an automated fast-track QA queue to maximize throughput.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2E5FA1"/>
                </a:solidFill>
                <a:latin typeface="Calibri"/>
              </a:rPr>
              <a:t>¹² </a:t>
            </a:r>
            <a:r>
              <a:rPr sz="1000" b="0" u="sng">
                <a:solidFill>
                  <a:srgbClr val="475569"/>
                </a:solidFill>
                <a:latin typeface="Calibri"/>
                <a:hlinkClick r:id="rId4"/>
              </a:rPr>
              <a:t>Zhang et al. 2023</a:t>
            </a:r>
            <a:r>
              <a:rPr sz="1000"/>
              <a:t>   </a:t>
            </a:r>
            <a:r>
              <a:rPr sz="1100" b="1">
                <a:solidFill>
                  <a:srgbClr val="2E5FA1"/>
                </a:solidFill>
                <a:latin typeface="Calibri"/>
              </a:rPr>
              <a:t>¹³ </a:t>
            </a:r>
            <a:r>
              <a:rPr sz="1000" b="0" u="sng">
                <a:solidFill>
                  <a:srgbClr val="475569"/>
                </a:solidFill>
                <a:latin typeface="Calibri"/>
                <a:hlinkClick r:id="rId5"/>
              </a:rPr>
              <a:t>Sonawani &amp; Mukhopadhyay 2013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VacuTech · DLMDSEBA02 · BI &amp; Data Mining (Phase 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Three concrete recommendations for VacuTech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721608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721608" cy="73152"/>
          </a:xfrm>
          <a:prstGeom prst="rect">
            <a:avLst/>
          </a:prstGeom>
          <a:solidFill>
            <a:srgbClr val="2E5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3264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2A4A"/>
                </a:solidFill>
                <a:latin typeface="Calibri"/>
              </a:rPr>
              <a:t>W1 · Parts Stocking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26440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Optimize regional warehouse stocking by holding the top 20 critical add-on parts. Deploy the 24 high-confidence parts bundling rules to ensure technicians complete maintenance visits in a single trip.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434840"/>
            <a:ext cx="3172968" cy="36576"/>
          </a:xfrm>
          <a:prstGeom prst="rect">
            <a:avLst/>
          </a:prstGeom>
          <a:solidFill>
            <a:srgbClr val="2E5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32644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5FA1"/>
                </a:solidFill>
                <a:latin typeface="Calibri"/>
              </a:rPr>
              <a:t>CRM Value: Customer Development — Boost first-visit completion rates.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8" y="1280160"/>
            <a:ext cx="3721608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1688" y="1280160"/>
            <a:ext cx="3721608" cy="7315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508760"/>
            <a:ext cx="3264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2A4A"/>
                </a:solidFill>
                <a:latin typeface="Calibri"/>
              </a:rPr>
              <a:t>W2 · Smart Scheduling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148840"/>
            <a:ext cx="326440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Provide reliable repair windows based on our 93% reliable duration model. Quote a standard ±1-day window for predictable repairs, and route unpredictable categories ('Control electronics' and 'Seal/Leak') to senior staff with a wider ±4-day buffer.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36008" y="4434840"/>
            <a:ext cx="3172968" cy="3657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4572000"/>
            <a:ext cx="32644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Calibri"/>
              </a:rPr>
              <a:t>CRM Value: Customer Retention — Fewer status check calls.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6176" y="1280160"/>
            <a:ext cx="3721608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66176" y="1280160"/>
            <a:ext cx="3721608" cy="7315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0496" y="1508760"/>
            <a:ext cx="3264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2A4A"/>
                </a:solidFill>
                <a:latin typeface="Calibri"/>
              </a:rPr>
              <a:t>W3 · Quality Triage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6" y="2148840"/>
            <a:ext cx="326440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Automatically flag high-risk jobs at intake, focusing on vulnerable pump models like 'T1200' and 'G400D'. This triage check will intercept 49% of all potential quality issues early with a quick, senior technician review.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40496" y="4434840"/>
            <a:ext cx="3172968" cy="3657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0496" y="4572000"/>
            <a:ext cx="32644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Calibri"/>
              </a:rPr>
              <a:t>CRM Value: Customer Loyalty — Prevent costly repeat-failure cycles.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2A4A"/>
                </a:solidFill>
                <a:latin typeface="Calibri"/>
              </a:rPr>
              <a:t>Why interpretable models? Stakeholders (planners, advisors, QA supervisors) must act on the output. A shallow, auditable model that they can read and override is preferable to a high-accuracy black box they cannot challenge⁹⁻².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2E5FA1"/>
                </a:solidFill>
                <a:latin typeface="Calibri"/>
              </a:rPr>
              <a:t>⁹ </a:t>
            </a:r>
            <a:r>
              <a:rPr sz="1000" b="0" u="sng">
                <a:solidFill>
                  <a:srgbClr val="475569"/>
                </a:solidFill>
                <a:latin typeface="Calibri"/>
                <a:hlinkClick r:id="rId2"/>
              </a:rPr>
              <a:t>Rudin 2019</a:t>
            </a:r>
            <a:r>
              <a:rPr sz="1000"/>
              <a:t>   </a:t>
            </a:r>
            <a:r>
              <a:rPr sz="1100" b="1">
                <a:solidFill>
                  <a:srgbClr val="2E5FA1"/>
                </a:solidFill>
                <a:latin typeface="Calibri"/>
              </a:rPr>
              <a:t>² </a:t>
            </a:r>
            <a:r>
              <a:rPr sz="1000" b="0" u="sng">
                <a:solidFill>
                  <a:srgbClr val="475569"/>
                </a:solidFill>
                <a:latin typeface="Calibri"/>
                <a:hlinkClick r:id="rId3"/>
              </a:rPr>
              <a:t>CRISP-DM Consortium 2000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VacuTech · DLMDSEBA02 · BI &amp; Data Mining (Phase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BIBLIOGRAPHY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Peer-reviewed sources and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7589520" cy="5029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2E5FA1"/>
                </a:solidFill>
                <a:latin typeface="Calibri"/>
              </a:rPr>
              <a:t>[1] </a:t>
            </a:r>
            <a:r>
              <a:rPr sz="950">
                <a:solidFill>
                  <a:srgbClr val="475569"/>
                </a:solidFill>
                <a:latin typeface="Calibri"/>
              </a:rPr>
              <a:t>Shearer, C. (2000). The CRISP-DM model: The new blueprint for data mining. Journal of Data Warehousing, 5(4), 13-22.  </a:t>
            </a:r>
            <a:r>
              <a:rPr sz="950" b="0" u="sng">
                <a:solidFill>
                  <a:srgbClr val="2E5FA1"/>
                </a:solidFill>
                <a:latin typeface="Calibri"/>
                <a:hlinkClick r:id="rId2"/>
              </a:rPr>
              <a:t>link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2E5FA1"/>
                </a:solidFill>
                <a:latin typeface="Calibri"/>
              </a:rPr>
              <a:t>[2] </a:t>
            </a:r>
            <a:r>
              <a:rPr sz="950">
                <a:solidFill>
                  <a:srgbClr val="475569"/>
                </a:solidFill>
                <a:latin typeface="Calibri"/>
              </a:rPr>
              <a:t>CRISP-DM Consortium (2000). CRISP-DM 1.0: Step-by-step data mining guide.  </a:t>
            </a:r>
            <a:r>
              <a:rPr sz="950" b="0" u="sng">
                <a:solidFill>
                  <a:srgbClr val="2E5FA1"/>
                </a:solidFill>
                <a:latin typeface="Calibri"/>
                <a:hlinkClick r:id="rId3"/>
              </a:rPr>
              <a:t>link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2E5FA1"/>
                </a:solidFill>
                <a:latin typeface="Calibri"/>
              </a:rPr>
              <a:t>[3] </a:t>
            </a:r>
            <a:r>
              <a:rPr sz="950">
                <a:solidFill>
                  <a:srgbClr val="475569"/>
                </a:solidFill>
                <a:latin typeface="Calibri"/>
              </a:rPr>
              <a:t>Agrawal, R., &amp; Srikant, R. (1994). Fast algorithms for mining association rules in large databases. Proc. VLDB '94, 487-499.  </a:t>
            </a:r>
            <a:r>
              <a:rPr sz="950" b="0" u="sng">
                <a:solidFill>
                  <a:srgbClr val="2E5FA1"/>
                </a:solidFill>
                <a:latin typeface="Calibri"/>
                <a:hlinkClick r:id="rId4"/>
              </a:rPr>
              <a:t>link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2E5FA1"/>
                </a:solidFill>
                <a:latin typeface="Calibri"/>
              </a:rPr>
              <a:t>[4] </a:t>
            </a:r>
            <a:r>
              <a:rPr sz="950">
                <a:solidFill>
                  <a:srgbClr val="475569"/>
                </a:solidFill>
                <a:latin typeface="Calibri"/>
              </a:rPr>
              <a:t>Brin, S., Motwani, R., Ullman, J. D., &amp; Tsur, S. (1997). Dynamic itemset counting and implication rules for market basket data. Proc. ACM SIGMOD, 255-276.  </a:t>
            </a:r>
            <a:r>
              <a:rPr sz="950" b="0" u="sng">
                <a:solidFill>
                  <a:srgbClr val="2E5FA1"/>
                </a:solidFill>
                <a:latin typeface="Calibri"/>
                <a:hlinkClick r:id="rId5"/>
              </a:rPr>
              <a:t>link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2E5FA1"/>
                </a:solidFill>
                <a:latin typeface="Calibri"/>
              </a:rPr>
              <a:t>[5] </a:t>
            </a:r>
            <a:r>
              <a:rPr sz="950">
                <a:solidFill>
                  <a:srgbClr val="475569"/>
                </a:solidFill>
                <a:latin typeface="Calibri"/>
              </a:rPr>
              <a:t>Mundler, N. (2019). Association rule mining and itemset-correlation based variants. arXiv:1907.09535.  </a:t>
            </a:r>
            <a:r>
              <a:rPr sz="950" b="0" u="sng">
                <a:solidFill>
                  <a:srgbClr val="2E5FA1"/>
                </a:solidFill>
                <a:latin typeface="Calibri"/>
                <a:hlinkClick r:id="rId6"/>
              </a:rPr>
              <a:t>link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2E5FA1"/>
                </a:solidFill>
                <a:latin typeface="Calibri"/>
              </a:rPr>
              <a:t>[6] </a:t>
            </a:r>
            <a:r>
              <a:rPr sz="950">
                <a:solidFill>
                  <a:srgbClr val="475569"/>
                </a:solidFill>
                <a:latin typeface="Calibri"/>
              </a:rPr>
              <a:t>Wang, J., Pan, X., Wang, L., &amp; Wei, W. (2018). Method of spare parts prediction models evaluation based on grey comprehensive correlation degree and association rules mining: A case study in aviation. Mathematical Problems in Engineering, 2018, 2643405.  </a:t>
            </a:r>
            <a:r>
              <a:rPr sz="950" b="0" u="sng">
                <a:solidFill>
                  <a:srgbClr val="2E5FA1"/>
                </a:solidFill>
                <a:latin typeface="Calibri"/>
                <a:hlinkClick r:id="rId7"/>
              </a:rPr>
              <a:t>link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2E5FA1"/>
                </a:solidFill>
                <a:latin typeface="Calibri"/>
              </a:rPr>
              <a:t>[7] </a:t>
            </a:r>
            <a:r>
              <a:rPr sz="950">
                <a:solidFill>
                  <a:srgbClr val="475569"/>
                </a:solidFill>
                <a:latin typeface="Calibri"/>
              </a:rPr>
              <a:t>Didriksen, S. K., Sigsgaard, K. W., Mortensen, N. H., &amp; Jespersen, C. B. (2026). Assigning spare parts management decision-making strategies: A holistic portfolio classification methodology. Applied Sciences, 16(4), 1961.  </a:t>
            </a:r>
            <a:r>
              <a:rPr sz="950" b="0" u="sng">
                <a:solidFill>
                  <a:srgbClr val="2E5FA1"/>
                </a:solidFill>
                <a:latin typeface="Calibri"/>
                <a:hlinkClick r:id="rId8"/>
              </a:rPr>
              <a:t>link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2E5FA1"/>
                </a:solidFill>
                <a:latin typeface="Calibri"/>
              </a:rPr>
              <a:t>[8] </a:t>
            </a:r>
            <a:r>
              <a:rPr sz="950">
                <a:solidFill>
                  <a:srgbClr val="475569"/>
                </a:solidFill>
                <a:latin typeface="Calibri"/>
              </a:rPr>
              <a:t>Breiman, L., Friedman, J. H., Olshen, R. A., &amp; Stone, C. J. (1984). Classification and Regression Trees. Chapman &amp; Hall.  </a:t>
            </a:r>
            <a:r>
              <a:rPr sz="950" b="0" u="sng">
                <a:solidFill>
                  <a:srgbClr val="2E5FA1"/>
                </a:solidFill>
                <a:latin typeface="Calibri"/>
                <a:hlinkClick r:id="rId9"/>
              </a:rPr>
              <a:t>link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2E5FA1"/>
                </a:solidFill>
                <a:latin typeface="Calibri"/>
              </a:rPr>
              <a:t>[9] </a:t>
            </a:r>
            <a:r>
              <a:rPr sz="950">
                <a:solidFill>
                  <a:srgbClr val="475569"/>
                </a:solidFill>
                <a:latin typeface="Calibri"/>
              </a:rPr>
              <a:t>Rudin, C. (2019). Stop explaining black box machine learning models for high stakes decisions and use interpretable models instead. Nature Machine Intelligence, 1, 206-215.  </a:t>
            </a:r>
            <a:r>
              <a:rPr sz="950" b="0" u="sng">
                <a:solidFill>
                  <a:srgbClr val="2E5FA1"/>
                </a:solidFill>
                <a:latin typeface="Calibri"/>
                <a:hlinkClick r:id="rId10"/>
              </a:rPr>
              <a:t>link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2E5FA1"/>
                </a:solidFill>
                <a:latin typeface="Calibri"/>
              </a:rPr>
              <a:t>[10] </a:t>
            </a:r>
            <a:r>
              <a:rPr sz="950">
                <a:solidFill>
                  <a:srgbClr val="475569"/>
                </a:solidFill>
                <a:latin typeface="Calibri"/>
              </a:rPr>
              <a:t>Jang, J., Nana, D., Hochschild, J., &amp; de Lorenzo, J. V. H. (2021). Predicting breakdown risk based on historical maintenance data for Air Force ground vehicles. arXiv:2112.13922.  </a:t>
            </a:r>
            <a:r>
              <a:rPr sz="950" b="0" u="sng">
                <a:solidFill>
                  <a:srgbClr val="2E5FA1"/>
                </a:solidFill>
                <a:latin typeface="Calibri"/>
                <a:hlinkClick r:id="rId11"/>
              </a:rPr>
              <a:t>link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2E5FA1"/>
                </a:solidFill>
                <a:latin typeface="Calibri"/>
              </a:rPr>
              <a:t>[11] </a:t>
            </a:r>
            <a:r>
              <a:rPr sz="950">
                <a:solidFill>
                  <a:srgbClr val="475569"/>
                </a:solidFill>
                <a:latin typeface="Calibri"/>
              </a:rPr>
              <a:t>Ding, Y., Gao, A., Ryden, T., et al. (2022). Acela: Predictable datacenter-level maintenance job scheduling. arXiv:2212.05155.  </a:t>
            </a:r>
            <a:r>
              <a:rPr sz="950" b="0" u="sng">
                <a:solidFill>
                  <a:srgbClr val="2E5FA1"/>
                </a:solidFill>
                <a:latin typeface="Calibri"/>
                <a:hlinkClick r:id="rId12"/>
              </a:rPr>
              <a:t>link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2E5FA1"/>
                </a:solidFill>
                <a:latin typeface="Calibri"/>
              </a:rPr>
              <a:t>[12] </a:t>
            </a:r>
            <a:r>
              <a:rPr sz="950">
                <a:solidFill>
                  <a:srgbClr val="475569"/>
                </a:solidFill>
                <a:latin typeface="Calibri"/>
              </a:rPr>
              <a:t>Zhang, Y., Gao, Z., Sun, J., &amp; Liu, L. (2023). Machine-learning algorithms for process condition data-based inclusion prediction in continuous-casting process. Sensors, 23(15), 6719.  </a:t>
            </a:r>
            <a:r>
              <a:rPr sz="950" b="0" u="sng">
                <a:solidFill>
                  <a:srgbClr val="2E5FA1"/>
                </a:solidFill>
                <a:latin typeface="Calibri"/>
                <a:hlinkClick r:id="rId13"/>
              </a:rPr>
              <a:t>link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2E5FA1"/>
                </a:solidFill>
                <a:latin typeface="Calibri"/>
              </a:rPr>
              <a:t>[13] </a:t>
            </a:r>
            <a:r>
              <a:rPr sz="950">
                <a:solidFill>
                  <a:srgbClr val="475569"/>
                </a:solidFill>
                <a:latin typeface="Calibri"/>
              </a:rPr>
              <a:t>Sonawani, S., &amp; Mukhopadhyay, D. (2013). A decision tree approach to classify web services using quality parameters. arXiv:1311.6240.  </a:t>
            </a:r>
            <a:r>
              <a:rPr sz="950" b="0" u="sng">
                <a:solidFill>
                  <a:srgbClr val="2E5FA1"/>
                </a:solidFill>
                <a:latin typeface="Calibri"/>
                <a:hlinkClick r:id="rId14"/>
              </a:rPr>
              <a:t>link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2E5FA1"/>
                </a:solidFill>
                <a:latin typeface="Calibri"/>
              </a:rPr>
              <a:t>[14] </a:t>
            </a:r>
            <a:r>
              <a:rPr sz="950">
                <a:solidFill>
                  <a:srgbClr val="475569"/>
                </a:solidFill>
                <a:latin typeface="Calibri"/>
              </a:rPr>
              <a:t>Ngai, E. W. T., Xiu, L., &amp; Chau, D. C. K. (2009). Application of data mining techniques in customer relationship management: A literature review and classification. Expert Systems with Applications, 36(2), 2592-2602.  </a:t>
            </a:r>
            <a:r>
              <a:rPr sz="950" b="0" u="sng">
                <a:solidFill>
                  <a:srgbClr val="2E5FA1"/>
                </a:solidFill>
                <a:latin typeface="Calibri"/>
                <a:hlinkClick r:id="rId15"/>
              </a:rPr>
              <a:t>link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143000"/>
            <a:ext cx="3502152" cy="5029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0" y="1143000"/>
            <a:ext cx="109728" cy="5029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Frameworks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691640"/>
            <a:ext cx="310896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2C55E"/>
                </a:solidFill>
              </a:rPr>
              <a:t>●  </a:t>
            </a:r>
            <a:r>
              <a:rPr sz="1100" b="1" u="sng">
                <a:solidFill>
                  <a:srgbClr val="1B2A4A"/>
                </a:solidFill>
                <a:latin typeface="Calibri"/>
                <a:hlinkClick r:id="rId16"/>
              </a:rPr>
              <a:t>scikit-learn (Decision Trees)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2C55E"/>
                </a:solidFill>
              </a:rPr>
              <a:t>●  </a:t>
            </a:r>
            <a:r>
              <a:rPr sz="1100" b="1" u="sng">
                <a:solidFill>
                  <a:srgbClr val="1B2A4A"/>
                </a:solidFill>
                <a:latin typeface="Calibri"/>
                <a:hlinkClick r:id="rId17"/>
              </a:rPr>
              <a:t>mlxtend (Apriori, association rules)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2C55E"/>
                </a:solidFill>
              </a:rPr>
              <a:t>●  </a:t>
            </a:r>
            <a:r>
              <a:rPr sz="1100" b="1" u="sng">
                <a:solidFill>
                  <a:srgbClr val="1B2A4A"/>
                </a:solidFill>
                <a:latin typeface="Calibri"/>
                <a:hlinkClick r:id="rId18"/>
              </a:rPr>
              <a:t>pandas (data manipulation)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2C55E"/>
                </a:solidFill>
              </a:rPr>
              <a:t>●  </a:t>
            </a:r>
            <a:r>
              <a:rPr sz="1100" b="1" u="sng">
                <a:solidFill>
                  <a:srgbClr val="1B2A4A"/>
                </a:solidFill>
                <a:latin typeface="Calibri"/>
                <a:hlinkClick r:id="rId19"/>
              </a:rPr>
              <a:t>Jupyter (CRISP-DM notebooks)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2C55E"/>
                </a:solidFill>
              </a:rPr>
              <a:t>●  </a:t>
            </a:r>
            <a:r>
              <a:rPr sz="1100" b="1" u="sng">
                <a:solidFill>
                  <a:srgbClr val="1B2A4A"/>
                </a:solidFill>
                <a:latin typeface="Calibri"/>
                <a:hlinkClick r:id="rId3"/>
              </a:rPr>
              <a:t>CRISP-DM 1.0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54864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See ACADEMIC_METHOD_JUSTIFICATION.md for full per-W argumentation.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VacuTech · DLMDSEBA02 · BI &amp; Data Mining (Phase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
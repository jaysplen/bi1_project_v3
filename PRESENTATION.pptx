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016/j.eswa.2008.02.021" TargetMode="External"/><Relationship Id="rId3" Type="http://schemas.openxmlformats.org/officeDocument/2006/relationships/hyperlink" Target="https://www.taylorfrancis.com/chapters/mono/10.1201/b12040-8/process-model-data-mining%E2%80%94crisp-dm-daniel-putler-robert-krider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sbt.github.io/mlxtend/user_guide/frequent_patterns/apriori/" TargetMode="External"/><Relationship Id="rId3" Type="http://schemas.openxmlformats.org/officeDocument/2006/relationships/hyperlink" Target="https://rasbt.github.io/mlxtend/user_guide/frequent_patterns/association_rules/" TargetMode="External"/><Relationship Id="rId4" Type="http://schemas.openxmlformats.org/officeDocument/2006/relationships/hyperlink" Target="https://snap.stanford.edu/class/cs224w-readings/Agrawal94AssosiationRule.pdf" TargetMode="External"/><Relationship Id="rId5" Type="http://schemas.openxmlformats.org/officeDocument/2006/relationships/hyperlink" Target="https://dl.acm.org/doi/10.1145/253260.253325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doi.org/10.1155/2018/2643405" TargetMode="External"/><Relationship Id="rId5" Type="http://schemas.openxmlformats.org/officeDocument/2006/relationships/hyperlink" Target="https://doi.org/10.3390/app1604196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cikit-learn.org/stable/modules/generated/sklearn.tree.DecisionTreeRegressor.html" TargetMode="External"/><Relationship Id="rId3" Type="http://schemas.openxmlformats.org/officeDocument/2006/relationships/hyperlink" Target="https://www.taylorfrancis.com/books/mono/10.1201/9781315139470/classification-regression-trees-leo-breiman-jerome-friedman-olshen-charles-stone" TargetMode="External"/><Relationship Id="rId4" Type="http://schemas.openxmlformats.org/officeDocument/2006/relationships/hyperlink" Target="https://arxiv.org/abs/1811.10154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hyperlink" Target="https://arxiv.org/abs/2112.13922" TargetMode="External"/><Relationship Id="rId5" Type="http://schemas.openxmlformats.org/officeDocument/2006/relationships/hyperlink" Target="https://arxiv.org/abs/2212.0515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cikit-learn.org/stable/modules/generated/sklearn.tree.DecisionTreeClassifier.html" TargetMode="External"/><Relationship Id="rId3" Type="http://schemas.openxmlformats.org/officeDocument/2006/relationships/hyperlink" Target="https://scikit-learn.org/stable/modules/model_evaluation.html#classification-metrics" TargetMode="External"/><Relationship Id="rId4" Type="http://schemas.openxmlformats.org/officeDocument/2006/relationships/hyperlink" Target="https://www.taylorfrancis.com/books/mono/10.1201/9781315139470/classification-regression-trees-leo-breiman-jerome-friedman-olshen-charles-stone" TargetMode="External"/><Relationship Id="rId5" Type="http://schemas.openxmlformats.org/officeDocument/2006/relationships/hyperlink" Target="https://arxiv.org/abs/1811.10154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hyperlink" Target="https://doi.org/10.3390/s23156719" TargetMode="External"/><Relationship Id="rId5" Type="http://schemas.openxmlformats.org/officeDocument/2006/relationships/hyperlink" Target="https://arxiv.org/abs/1311.6240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1811.10154" TargetMode="External"/><Relationship Id="rId3" Type="http://schemas.openxmlformats.org/officeDocument/2006/relationships/hyperlink" Target="https://www.kde.cs.uni-kassel.de/wp-content/uploads/lehre/ws2015-16/kdd/files/CRISPWP-0800.pdf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aylorfrancis.com/chapters/mono/10.1201/b12040-8/process-model-data-mining%E2%80%94crisp-dm-daniel-putler-robert-krider" TargetMode="External"/><Relationship Id="rId3" Type="http://schemas.openxmlformats.org/officeDocument/2006/relationships/hyperlink" Target="https://www.kde.cs.uni-kassel.de/wp-content/uploads/lehre/ws2015-16/kdd/files/CRISPWP-0800.pdf" TargetMode="External"/><Relationship Id="rId4" Type="http://schemas.openxmlformats.org/officeDocument/2006/relationships/hyperlink" Target="https://snap.stanford.edu/class/cs224w-readings/Agrawal94AssosiationRule.pdf" TargetMode="External"/><Relationship Id="rId5" Type="http://schemas.openxmlformats.org/officeDocument/2006/relationships/hyperlink" Target="https://dl.acm.org/doi/10.1145/253260.253325" TargetMode="External"/><Relationship Id="rId6" Type="http://schemas.openxmlformats.org/officeDocument/2006/relationships/hyperlink" Target="https://arxiv.org/abs/1907.09535" TargetMode="External"/><Relationship Id="rId7" Type="http://schemas.openxmlformats.org/officeDocument/2006/relationships/hyperlink" Target="https://doi.org/10.1155/2018/2643405" TargetMode="External"/><Relationship Id="rId8" Type="http://schemas.openxmlformats.org/officeDocument/2006/relationships/hyperlink" Target="https://doi.org/10.3390/app16041961" TargetMode="External"/><Relationship Id="rId9" Type="http://schemas.openxmlformats.org/officeDocument/2006/relationships/hyperlink" Target="https://www.taylorfrancis.com/books/mono/10.1201/9781315139470/classification-regression-trees-leo-breiman-jerome-friedman-olshen-charles-stone" TargetMode="External"/><Relationship Id="rId10" Type="http://schemas.openxmlformats.org/officeDocument/2006/relationships/hyperlink" Target="https://arxiv.org/abs/1811.10154" TargetMode="External"/><Relationship Id="rId11" Type="http://schemas.openxmlformats.org/officeDocument/2006/relationships/hyperlink" Target="https://arxiv.org/abs/2112.13922" TargetMode="External"/><Relationship Id="rId12" Type="http://schemas.openxmlformats.org/officeDocument/2006/relationships/hyperlink" Target="https://arxiv.org/abs/2212.05155" TargetMode="External"/><Relationship Id="rId13" Type="http://schemas.openxmlformats.org/officeDocument/2006/relationships/hyperlink" Target="https://doi.org/10.3390/s23156719" TargetMode="External"/><Relationship Id="rId14" Type="http://schemas.openxmlformats.org/officeDocument/2006/relationships/hyperlink" Target="https://arxiv.org/abs/1311.6240" TargetMode="External"/><Relationship Id="rId15" Type="http://schemas.openxmlformats.org/officeDocument/2006/relationships/hyperlink" Target="https://doi.org/10.1016/j.eswa.2008.02.021" TargetMode="External"/><Relationship Id="rId16" Type="http://schemas.openxmlformats.org/officeDocument/2006/relationships/hyperlink" Target="https://scikit-learn.org/stable/modules/tree.html" TargetMode="External"/><Relationship Id="rId17" Type="http://schemas.openxmlformats.org/officeDocument/2006/relationships/hyperlink" Target="https://rasbt.github.io/mlxtend/user_guide/frequent_patterns/apriori/" TargetMode="External"/><Relationship Id="rId18" Type="http://schemas.openxmlformats.org/officeDocument/2006/relationships/hyperlink" Target="https://pandas.pydata.org/docs/" TargetMode="External"/><Relationship Id="rId19" Type="http://schemas.openxmlformats.org/officeDocument/2006/relationships/hyperlink" Target="https://jupyter.org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45720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E5FA1"/>
                </a:solidFill>
                <a:latin typeface="Calibri"/>
              </a:rPr>
              <a:t>VACUTECH · PHASE 2 · BUSINESS INTELLIGENCE &amp; DATA MINING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Calibri"/>
              </a:rPr>
              <a:t>From RMAs to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1F5F9"/>
                </a:solidFill>
                <a:latin typeface="Calibri"/>
              </a:rPr>
              <a:t>Three CRM questions, three transparent data-mining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1F5F9"/>
                </a:solidFill>
                <a:latin typeface="Calibri"/>
              </a:rPr>
              <a:t>Course module: DLMDSEBA02  •  Composite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3566160" cy="1645920"/>
          </a:xfrm>
          <a:prstGeom prst="rect">
            <a:avLst/>
          </a:prstGeom>
          <a:solidFill>
            <a:srgbClr val="29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4114800"/>
            <a:ext cx="91440" cy="1645920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W1 · Apriori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8006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1F5F9"/>
                </a:solidFill>
                <a:latin typeface="Calibri"/>
              </a:rPr>
              <a:t>24 rules from 2974 PM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2120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4C2DB"/>
                </a:solidFill>
                <a:latin typeface="Calibri"/>
              </a:rPr>
              <a:t>Pareto: 20 SKUs cover ≈80%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4114800"/>
            <a:ext cx="3566160" cy="1645920"/>
          </a:xfrm>
          <a:prstGeom prst="rect">
            <a:avLst/>
          </a:prstGeom>
          <a:solidFill>
            <a:srgbClr val="29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4114800"/>
            <a:ext cx="91440" cy="1645920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4297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W2 · Decision Tree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48006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1F5F9"/>
                </a:solidFill>
                <a:latin typeface="Calibri"/>
              </a:rPr>
              <a:t>R² = 0.93 on 2000 test cases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52120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4C2DB"/>
                </a:solidFill>
                <a:latin typeface="Calibri"/>
              </a:rPr>
              <a:t>MAE ≈ 1.07 days at intake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4114800"/>
            <a:ext cx="3566160" cy="1645920"/>
          </a:xfrm>
          <a:prstGeom prst="rect">
            <a:avLst/>
          </a:prstGeom>
          <a:solidFill>
            <a:srgbClr val="29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4114800"/>
            <a:ext cx="91440" cy="1645920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4297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W3 · DT classifier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8006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1F5F9"/>
                </a:solidFill>
                <a:latin typeface="Calibri"/>
              </a:rPr>
              <a:t>Threshold = 0.3, recall 49%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52120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4C2DB"/>
                </a:solidFill>
                <a:latin typeface="Calibri"/>
              </a:rPr>
              <a:t>Accuracy 85% on 2000 test cases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4C2DB"/>
                </a:solidFill>
                <a:latin typeface="Calibri"/>
              </a:rPr>
              <a:t>All KPIs are read live from exports/metrics_summary.json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CRM tasks and the data-mining toolbox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Customer Relationship Management aims to identify, attract, retain and develop customers. Data mining supports each of these CRM tasks with a different family of algorithms¹⁾¹⁴. VacuTech's three W questions sit on the retention and development side: stock the right parts, make credible promises, and prevent rework before customers feel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31720"/>
            <a:ext cx="5394960" cy="14173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109728" cy="1417320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Calibri"/>
              </a:rPr>
              <a:t>Customer Identification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Segmentation, target selection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DM family: Clustering, classification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331720"/>
            <a:ext cx="5394960" cy="14173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331720"/>
            <a:ext cx="109728" cy="1417320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468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Calibri"/>
              </a:rPr>
              <a:t>Customer Attraction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34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Direct marketing, lead scoring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200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DM family: Classification, association rules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5394960" cy="14173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109728" cy="1417320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069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Calibri"/>
              </a:rPr>
              <a:t>Customer Retention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34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Service quality, churn, complaint triage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006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DM family: Classification (DT), regression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3931920"/>
            <a:ext cx="5394960" cy="14173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3931920"/>
            <a:ext cx="109728" cy="1417320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Calibri"/>
              </a:rPr>
              <a:t>Customer Development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434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Cross-/up-sell, lifetime value, bundling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8006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DM family: Association rules, regression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440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B2A4A"/>
                </a:solidFill>
                <a:latin typeface="Calibri"/>
              </a:rPr>
              <a:t>VacuTech mapping  •  W1 → Customer Development (parts bundling)   •  W2 → Customer Retention (credible ETAs)   •  W3 → Customer Retention (QA-failure prevention)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¹⁴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2"/>
              </a:rPr>
              <a:t>Ngai et al. 2009</a:t>
            </a:r>
            <a:r>
              <a:rPr sz="1000"/>
              <a:t>   </a:t>
            </a:r>
            <a:r>
              <a:rPr sz="1100" b="1">
                <a:solidFill>
                  <a:srgbClr val="2E5FA1"/>
                </a:solidFill>
                <a:latin typeface="Calibri"/>
              </a:rPr>
              <a:t>¹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3"/>
              </a:rPr>
              <a:t>Shearer 2000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VacuTech · DLMDSEBA02 · BI &amp; Data Mining (Phase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519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WORK PACKAGE 1 · INVENTORY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Which add-on parts should be stocked or bundled for PM visits?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FA1"/>
                </a:solidFill>
                <a:latin typeface="Calibri"/>
              </a:rPr>
              <a:t>Business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760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B2A4A"/>
                </a:solidFill>
                <a:latin typeface="Calibri"/>
              </a:rPr>
              <a:t>During preventive-maintenance jobs, technicians often consume parts that are NOT in the standard PM kit — forcing a second trip and eroding customer trust. We want a short, ranked stocking shortlist and a set of bundle rules a planner can act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FA1"/>
                </a:solidFill>
                <a:latin typeface="Calibri"/>
              </a:rPr>
              <a:t>Data 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576072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538 PM cases from repairs.csv (maintenance_kit_applied = 1)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Add-on lines from parts_used.csv (kit_part_flag = 0)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Pivoted into a boolean basket matrix: 538 cases x 36 add-on parts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No imputation, no scaling — Apriori works on boolean baskets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143000"/>
            <a:ext cx="5257800" cy="4572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92240" y="1143000"/>
            <a:ext cx="109728" cy="45720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12801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Calibri"/>
              </a:rPr>
              <a:t>Apriori association rules + Pareto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691640"/>
            <a:ext cx="49377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Apriori (mlxtend) discovers frequent co-occurring add-on parts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Rules ranked by lift, retained when lift exceeds independence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Pareto chart on part counts complements rules with a SKU shortlist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2461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Fixed hyperparameters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56616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min_support = 0.05  (≈ 25-50 baskets at this dataset size)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min_lift = 1.2  (meaningfully stronger than chance)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Outputs: w1_rules.csv, w1_metrics.json, two PNG charts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8463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Frameworks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5166360"/>
            <a:ext cx="493776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0" u="sng">
                <a:solidFill>
                  <a:srgbClr val="2E5FA1"/>
                </a:solidFill>
                <a:latin typeface="Calibri"/>
                <a:hlinkClick r:id="rId2"/>
              </a:rPr>
              <a:t>mlxtend.apriori</a:t>
            </a:r>
            <a:r>
              <a:rPr sz="1100">
                <a:solidFill>
                  <a:srgbClr val="475569"/>
                </a:solidFill>
              </a:rPr>
              <a:t>   ·   </a:t>
            </a:r>
            <a:r>
              <a:rPr sz="1100" b="0" u="sng">
                <a:solidFill>
                  <a:srgbClr val="2E5FA1"/>
                </a:solidFill>
                <a:latin typeface="Calibri"/>
                <a:hlinkClick r:id="rId3"/>
              </a:rPr>
              <a:t>mlxtend.association_rules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³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4"/>
              </a:rPr>
              <a:t>Agrawal &amp; Srikant 1994</a:t>
            </a:r>
            <a:r>
              <a:rPr sz="1000"/>
              <a:t>   </a:t>
            </a:r>
            <a:r>
              <a:rPr sz="1100" b="1">
                <a:solidFill>
                  <a:srgbClr val="2E5FA1"/>
                </a:solidFill>
                <a:latin typeface="Calibri"/>
              </a:rPr>
              <a:t>⁴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5"/>
              </a:rPr>
              <a:t>Brin et al. 1997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VacuTech · DLMDSEBA02 · BI &amp; Data Mining (Phase 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19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WORK PACKAGE 1 ·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Bundle rules + a 21-SKU Pareto shortlist</a:t>
            </a:r>
          </a:p>
        </p:txBody>
      </p:sp>
      <p:pic>
        <p:nvPicPr>
          <p:cNvPr id="5" name="Picture 4" descr="w1_top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3200400"/>
          </a:xfrm>
          <a:prstGeom prst="rect">
            <a:avLst/>
          </a:prstGeom>
        </p:spPr>
      </p:pic>
      <p:pic>
        <p:nvPicPr>
          <p:cNvPr id="6" name="Picture 5" descr="w1_pa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88720"/>
            <a:ext cx="5486400" cy="3200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Rules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5838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8718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Top lift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8718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18.59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4476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7356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Top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7356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100%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3114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5994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Pareto 80% / 90%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5994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20 / 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4406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FA1"/>
                </a:solidFill>
                <a:latin typeface="Calibri"/>
              </a:rPr>
              <a:t>Management 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440680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Lock the Pareto-head SKUs at every regional warehouse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Pilot one bundle rule per pump series next to the standard PM kit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Track the 'first-visit completion' rate before vs after roll-out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⁶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4"/>
              </a:rPr>
              <a:t>Wang et al. 2018</a:t>
            </a:r>
            <a:r>
              <a:rPr sz="1000"/>
              <a:t>   </a:t>
            </a:r>
            <a:r>
              <a:rPr sz="1100" b="1">
                <a:solidFill>
                  <a:srgbClr val="2E5FA1"/>
                </a:solidFill>
                <a:latin typeface="Calibri"/>
              </a:rPr>
              <a:t>⁷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5"/>
              </a:rPr>
              <a:t>Didriksen et al. 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VacuTech · DLMDSEBA02 · BI &amp; Data Mining (Phase 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19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WORK PACKAGE 2 · REPAIR-DURATION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At intake, how long will this repair take?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FA1"/>
                </a:solidFill>
                <a:latin typeface="Calibri"/>
              </a:rPr>
              <a:t>Business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760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B2A4A"/>
                </a:solidFill>
                <a:latin typeface="Calibri"/>
              </a:rPr>
              <a:t>The service planner must commit to a customer-facing window. The model must use only intake-safe features (no QA or post-repair fields) and remain explainable to a front-desk advisor.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FA1"/>
                </a:solidFill>
                <a:latin typeface="Calibri"/>
              </a:rPr>
              <a:t>Data 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576072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Target: repair_duration_days (right-skewed)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Numeric: pump_age_years, technician_experience_years, parts_cost_eur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Categorical: pump_model, complexity_class, failure_type, parts_from_hq_flag, region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Preparation: dropna + one-hot encoding (no scaler)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143000"/>
            <a:ext cx="5257800" cy="4572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92240" y="1143000"/>
            <a:ext cx="109728" cy="45720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12801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Calibri"/>
              </a:rPr>
              <a:t>Decision Tree Regressor (CART)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691640"/>
            <a:ext cx="49377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One interpretable algorithm — splits readable on a whiteboard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Trees are scale-free and need no target transform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80/20 train/test split, seed = 7, evaluated on held-out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2461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Fixed hyperparameters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56616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max_depth = 6  (captures pump x complexity interactions)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min_samples_leaf = 20  (≥ 20 cases per leaf)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random_state = 7  (deterministic split)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8463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Frameworks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5166360"/>
            <a:ext cx="493776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0" u="sng">
                <a:solidFill>
                  <a:srgbClr val="2E5FA1"/>
                </a:solidFill>
                <a:latin typeface="Calibri"/>
                <a:hlinkClick r:id="rId2"/>
              </a:rPr>
              <a:t>scikit-learn DecisionTreeRegressor</a:t>
            </a:r>
            <a:r>
              <a:rPr sz="1100">
                <a:solidFill>
                  <a:srgbClr val="475569"/>
                </a:solidFill>
              </a:rPr>
              <a:t>   ·   </a:t>
            </a:r>
            <a:r>
              <a:rPr sz="1100" b="0" u="sng">
                <a:solidFill>
                  <a:srgbClr val="2E5FA1"/>
                </a:solidFill>
                <a:latin typeface="Calibri"/>
                <a:hlinkClick r:id="rId3"/>
              </a:rPr>
              <a:t>CART (Breiman et al. 1984)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⁸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3"/>
              </a:rPr>
              <a:t>Breiman et al. 1984</a:t>
            </a:r>
            <a:r>
              <a:rPr sz="1000"/>
              <a:t>   </a:t>
            </a:r>
            <a:r>
              <a:rPr sz="1100" b="1">
                <a:solidFill>
                  <a:srgbClr val="2E5FA1"/>
                </a:solidFill>
                <a:latin typeface="Calibri"/>
              </a:rPr>
              <a:t>⁹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4"/>
              </a:rPr>
              <a:t>Rudin 2019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VacuTech · DLMDSEBA02 · BI &amp; Data Mining (Phase 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19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WORK PACKAGE 2 ·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Usable intake-time ETAs — publish as a +/- range</a:t>
            </a:r>
          </a:p>
        </p:txBody>
      </p:sp>
      <p:pic>
        <p:nvPicPr>
          <p:cNvPr id="5" name="Picture 4" descr="w2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3200400"/>
          </a:xfrm>
          <a:prstGeom prst="rect">
            <a:avLst/>
          </a:prstGeom>
        </p:spPr>
      </p:pic>
      <p:pic>
        <p:nvPicPr>
          <p:cNvPr id="6" name="Picture 5" descr="w2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88720"/>
            <a:ext cx="5486400" cy="3200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Train /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8000 / 2000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5838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8718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8718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0.927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4476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7356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MAE (days)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7356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1.07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3114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5994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RMSE (days)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5994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2.20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4406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FA1"/>
                </a:solidFill>
                <a:latin typeface="Calibri"/>
              </a:rPr>
              <a:t>Management 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440680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Publish predicted duration as a ±2-day range on the customer acknowledgement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Use feature importances as a routing signal (long jobs → senior techs)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Refresh the model quarterly; track MAE drift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¹⁰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4"/>
              </a:rPr>
              <a:t>Jang et al. 2021</a:t>
            </a:r>
            <a:r>
              <a:rPr sz="1000"/>
              <a:t>   </a:t>
            </a:r>
            <a:r>
              <a:rPr sz="1100" b="1">
                <a:solidFill>
                  <a:srgbClr val="2E5FA1"/>
                </a:solidFill>
                <a:latin typeface="Calibri"/>
              </a:rPr>
              <a:t>¹¹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5"/>
              </a:rPr>
              <a:t>Ding et al. 2022 · Acela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VacuTech · DLMDSEBA02 · BI &amp; Data Mining (Phase 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19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WORK PACKAGE 3 · QA-FAILURE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Which finished repairs deserve a closer pre-QA look?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FA1"/>
                </a:solidFill>
                <a:latin typeface="Calibri"/>
              </a:rPr>
              <a:t>Business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760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B2A4A"/>
                </a:solidFill>
                <a:latin typeface="Calibri"/>
              </a:rPr>
              <a:t>Before QA sign-off, operations wants a single yes/no flag per job. The target is imbalanced (~15% failures), so we use a deliberate operating threshold instead of bare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FA1"/>
                </a:solidFill>
                <a:latin typeface="Calibri"/>
              </a:rPr>
              <a:t>Data 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576072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Target: qa_failed_flag (binary; ≈15% positives)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Numeric: pump_age_years, technician_experience_years, parts_cost_eur, repair_duration_days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Categorical: pump_model, complexity_class, failure_type, parts_from_hq_flag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Stratified 80/20 split on the failure flag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143000"/>
            <a:ext cx="5257800" cy="4572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92240" y="1143000"/>
            <a:ext cx="109728" cy="45720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12801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Calibri"/>
              </a:rPr>
              <a:t>Decision Tree Classifier + fixed threshold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691640"/>
            <a:ext cx="49377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predict_proba -&gt; single operating threshold = 0.30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One algorithm, one operating point = governable dashboard flag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Evaluation: confusion matrix, recall + precision (not accuracy alone)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2461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Fixed hyperparameters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56616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max_depth = 6 ; min_samples_leaf = 20 ; random_state = 7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threshold = 0.30 (balances recall vs review capacity)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stratify = y to preserve class balance in train/test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8463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Frameworks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5166360"/>
            <a:ext cx="493776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0" u="sng">
                <a:solidFill>
                  <a:srgbClr val="2E5FA1"/>
                </a:solidFill>
                <a:latin typeface="Calibri"/>
                <a:hlinkClick r:id="rId2"/>
              </a:rPr>
              <a:t>scikit-learn DecisionTreeClassifier</a:t>
            </a:r>
            <a:r>
              <a:rPr sz="1100">
                <a:solidFill>
                  <a:srgbClr val="475569"/>
                </a:solidFill>
              </a:rPr>
              <a:t>   ·   </a:t>
            </a:r>
            <a:r>
              <a:rPr sz="1100" b="0" u="sng">
                <a:solidFill>
                  <a:srgbClr val="2E5FA1"/>
                </a:solidFill>
                <a:latin typeface="Calibri"/>
                <a:hlinkClick r:id="rId3"/>
              </a:rPr>
              <a:t>Imbalanced classification 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⁸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4"/>
              </a:rPr>
              <a:t>Breiman et al. 1984</a:t>
            </a:r>
            <a:r>
              <a:rPr sz="1000"/>
              <a:t>   </a:t>
            </a:r>
            <a:r>
              <a:rPr sz="1100" b="1">
                <a:solidFill>
                  <a:srgbClr val="2E5FA1"/>
                </a:solidFill>
                <a:latin typeface="Calibri"/>
              </a:rPr>
              <a:t>⁹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5"/>
              </a:rPr>
              <a:t>Rudin 2019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VacuTech · DLMDSEBA02 · BI &amp; Data Mining (Phase 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19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WORK PACKAGE 3 ·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 governable pre-QA triage flag at threshold 0.30</a:t>
            </a:r>
          </a:p>
        </p:txBody>
      </p:sp>
      <p:pic>
        <p:nvPicPr>
          <p:cNvPr id="5" name="Picture 4" descr="w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3200400"/>
          </a:xfrm>
          <a:prstGeom prst="rect">
            <a:avLst/>
          </a:prstGeom>
        </p:spPr>
      </p:pic>
      <p:pic>
        <p:nvPicPr>
          <p:cNvPr id="6" name="Picture 5" descr="w3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88720"/>
            <a:ext cx="5486400" cy="3200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Threshold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0.3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5838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8718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Recall (failure)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8718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49%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4476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7356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Precision (failure)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7356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43%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3114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5994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Accuracy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5994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85%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4406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FA1"/>
                </a:solidFill>
                <a:latin typeface="Calibri"/>
              </a:rPr>
              <a:t>Management 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440680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Route flagged jobs through a 5-minute senior-tech pre-QA review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Monitor the flag-vs-failure ratio weekly and adjust the threshold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Avoid post-repair-only features when scoring at intake-time triage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¹²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4"/>
              </a:rPr>
              <a:t>Zhang et al. 2023</a:t>
            </a:r>
            <a:r>
              <a:rPr sz="1000"/>
              <a:t>   </a:t>
            </a:r>
            <a:r>
              <a:rPr sz="1100" b="1">
                <a:solidFill>
                  <a:srgbClr val="2E5FA1"/>
                </a:solidFill>
                <a:latin typeface="Calibri"/>
              </a:rPr>
              <a:t>¹³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5"/>
              </a:rPr>
              <a:t>Sonawani &amp; Mukhopadhyay 2013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VacuTech · DLMDSEBA02 · BI &amp; Data Mining (Phase 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19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Three concrete recommendations for VacuTech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3721608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3721608" cy="73152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B2A4A"/>
                </a:solidFill>
                <a:latin typeface="Calibri"/>
              </a:rPr>
              <a:t>W1 ·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3264408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Pre-stock the top 20 add-on SKUs at every regional warehouse and pilot one bundle rule per pump series. Apriori found 24 rules with top lift 18.6.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434840"/>
            <a:ext cx="3172968" cy="36576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32644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CRM lens: customer development — first-visit completion + cross-sell of bundled BOMs.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1688" y="1280160"/>
            <a:ext cx="3721608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1688" y="1280160"/>
            <a:ext cx="3721608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150876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B2A4A"/>
                </a:solidFill>
                <a:latin typeface="Calibri"/>
              </a:rPr>
              <a:t>W2 · Repair 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148840"/>
            <a:ext cx="3264408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Publish duration on the customer acknowledgement as a ±2-day range. The shallow tree reaches R² ≈ 0.93 and MAE ≈ 1.07 days, while staying readable to the front-desk advisor.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6008" y="4434840"/>
            <a:ext cx="3172968" cy="36576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36008" y="4572000"/>
            <a:ext cx="32644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5E"/>
                </a:solidFill>
                <a:latin typeface="Calibri"/>
              </a:rPr>
              <a:t>CRM lens: customer retention — credible promises, fewer status calls.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66176" y="1280160"/>
            <a:ext cx="3721608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66176" y="1280160"/>
            <a:ext cx="3721608" cy="73152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150876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B2A4A"/>
                </a:solidFill>
                <a:latin typeface="Calibri"/>
              </a:rPr>
              <a:t>W3 · QA triage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148840"/>
            <a:ext cx="3264408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Send the jobs flagged at threshold 0.3 through a 5-minute senior pre-QA review. Recall ≈ 49% at 85% overall accuracy makes the workload manageable.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40496" y="4434840"/>
            <a:ext cx="3172968" cy="36576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4572000"/>
            <a:ext cx="32644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F4444"/>
                </a:solidFill>
                <a:latin typeface="Calibri"/>
              </a:rPr>
              <a:t>CRM lens: customer retention — prevent repeat-RMA situations.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B2A4A"/>
                </a:solidFill>
                <a:latin typeface="Calibri"/>
              </a:rPr>
              <a:t>Why interpretable models? Stakeholders (planners, advisors, QA supervisors) must act on the output. A shallow, auditable model that they can read and override is preferable to a high-accuracy black box they cannot challenge⁹⁻².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⁹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2"/>
              </a:rPr>
              <a:t>Rudin 2019</a:t>
            </a:r>
            <a:r>
              <a:rPr sz="1000"/>
              <a:t>   </a:t>
            </a:r>
            <a:r>
              <a:rPr sz="1100" b="1">
                <a:solidFill>
                  <a:srgbClr val="2E5FA1"/>
                </a:solidFill>
                <a:latin typeface="Calibri"/>
              </a:rPr>
              <a:t>²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3"/>
              </a:rPr>
              <a:t>CRISP-DM Consortium 2000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VacuTech · DLMDSEBA02 · BI &amp; Data Mining (Phase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519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BIBLIOGRAPHY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Peer-reviewed sources and frameworks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7589520" cy="5029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[1] </a:t>
            </a:r>
            <a:r>
              <a:rPr sz="950">
                <a:solidFill>
                  <a:srgbClr val="475569"/>
                </a:solidFill>
                <a:latin typeface="Calibri"/>
              </a:rPr>
              <a:t>Shearer, C. (2000). The CRISP-DM model: The new blueprint for data mining. Journal of Data Warehousing, 5(4), 13-22.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2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[2] </a:t>
            </a:r>
            <a:r>
              <a:rPr sz="950">
                <a:solidFill>
                  <a:srgbClr val="475569"/>
                </a:solidFill>
                <a:latin typeface="Calibri"/>
              </a:rPr>
              <a:t>CRISP-DM Consortium (2000). CRISP-DM 1.0: Step-by-step data mining guide.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3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[3] </a:t>
            </a:r>
            <a:r>
              <a:rPr sz="950">
                <a:solidFill>
                  <a:srgbClr val="475569"/>
                </a:solidFill>
                <a:latin typeface="Calibri"/>
              </a:rPr>
              <a:t>Agrawal, R., &amp; Srikant, R. (1994). Fast algorithms for mining association rules in large databases. Proc. VLDB '94, 487-499.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4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[4] </a:t>
            </a:r>
            <a:r>
              <a:rPr sz="950">
                <a:solidFill>
                  <a:srgbClr val="475569"/>
                </a:solidFill>
                <a:latin typeface="Calibri"/>
              </a:rPr>
              <a:t>Brin, S., Motwani, R., Ullman, J. D., &amp; Tsur, S. (1997). Dynamic itemset counting and implication rules for market basket data. Proc. ACM SIGMOD, 255-276.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5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[5] </a:t>
            </a:r>
            <a:r>
              <a:rPr sz="950">
                <a:solidFill>
                  <a:srgbClr val="475569"/>
                </a:solidFill>
                <a:latin typeface="Calibri"/>
              </a:rPr>
              <a:t>Mundler, N. (2019). Association rule mining and itemset-correlation based variants. arXiv:1907.09535.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6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[6] </a:t>
            </a:r>
            <a:r>
              <a:rPr sz="950">
                <a:solidFill>
                  <a:srgbClr val="475569"/>
                </a:solidFill>
                <a:latin typeface="Calibri"/>
              </a:rPr>
              <a:t>Wang, J., Pan, X., Wang, L., &amp; Wei, W. (2018). Method of spare parts prediction models evaluation based on grey comprehensive correlation degree and association rules mining: A case study in aviation. Mathematical Problems in Engineering, 2018, 2643405.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7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[7] </a:t>
            </a:r>
            <a:r>
              <a:rPr sz="950">
                <a:solidFill>
                  <a:srgbClr val="475569"/>
                </a:solidFill>
                <a:latin typeface="Calibri"/>
              </a:rPr>
              <a:t>Didriksen, S. K., Sigsgaard, K. W., Mortensen, N. H., &amp; Jespersen, C. B. (2026). Assigning spare parts management decision-making strategies: A holistic portfolio classification methodology. Applied Sciences, 16(4), 1961.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8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[8] </a:t>
            </a:r>
            <a:r>
              <a:rPr sz="950">
                <a:solidFill>
                  <a:srgbClr val="475569"/>
                </a:solidFill>
                <a:latin typeface="Calibri"/>
              </a:rPr>
              <a:t>Breiman, L., Friedman, J. H., Olshen, R. A., &amp; Stone, C. J. (1984). Classification and Regression Trees. Chapman &amp; Hall.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9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[9] </a:t>
            </a:r>
            <a:r>
              <a:rPr sz="950">
                <a:solidFill>
                  <a:srgbClr val="475569"/>
                </a:solidFill>
                <a:latin typeface="Calibri"/>
              </a:rPr>
              <a:t>Rudin, C. (2019). Stop explaining black box machine learning models for high stakes decisions and use interpretable models instead. Nature Machine Intelligence, 1, 206-215.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10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[10] </a:t>
            </a:r>
            <a:r>
              <a:rPr sz="950">
                <a:solidFill>
                  <a:srgbClr val="475569"/>
                </a:solidFill>
                <a:latin typeface="Calibri"/>
              </a:rPr>
              <a:t>Jang, J., Nana, D., Hochschild, J., &amp; de Lorenzo, J. V. H. (2021). Predicting breakdown risk based on historical maintenance data for Air Force ground vehicles. arXiv:2112.13922.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11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[11] </a:t>
            </a:r>
            <a:r>
              <a:rPr sz="950">
                <a:solidFill>
                  <a:srgbClr val="475569"/>
                </a:solidFill>
                <a:latin typeface="Calibri"/>
              </a:rPr>
              <a:t>Ding, Y., Gao, A., Ryden, T., et al. (2022). Acela: Predictable datacenter-level maintenance job scheduling. arXiv:2212.05155.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12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[12] </a:t>
            </a:r>
            <a:r>
              <a:rPr sz="950">
                <a:solidFill>
                  <a:srgbClr val="475569"/>
                </a:solidFill>
                <a:latin typeface="Calibri"/>
              </a:rPr>
              <a:t>Zhang, Y., Gao, Z., Sun, J., &amp; Liu, L. (2023). Machine-learning algorithms for process condition data-based inclusion prediction in continuous-casting process. Sensors, 23(15), 6719.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13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[13] </a:t>
            </a:r>
            <a:r>
              <a:rPr sz="950">
                <a:solidFill>
                  <a:srgbClr val="475569"/>
                </a:solidFill>
                <a:latin typeface="Calibri"/>
              </a:rPr>
              <a:t>Sonawani, S., &amp; Mukhopadhyay, D. (2013). A decision tree approach to classify web services using quality parameters. arXiv:1311.6240.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14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[14] </a:t>
            </a:r>
            <a:r>
              <a:rPr sz="950">
                <a:solidFill>
                  <a:srgbClr val="475569"/>
                </a:solidFill>
                <a:latin typeface="Calibri"/>
              </a:rPr>
              <a:t>Ngai, E. W. T., Xiu, L., &amp; Chau, D. C. K. (2009). Application of data mining techniques in customer relationship management: A literature review and classification. Expert Systems with Applications, 36(2), 2592-2602.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15"/>
              </a:rPr>
              <a:t>link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143000"/>
            <a:ext cx="3502152" cy="5029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0" y="1143000"/>
            <a:ext cx="109728" cy="50292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2801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Calibri"/>
              </a:rPr>
              <a:t>Frameworks 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691640"/>
            <a:ext cx="310896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2C55E"/>
                </a:solidFill>
              </a:rPr>
              <a:t>●  </a:t>
            </a:r>
            <a:r>
              <a:rPr sz="1100" b="1" u="sng">
                <a:solidFill>
                  <a:srgbClr val="1B2A4A"/>
                </a:solidFill>
                <a:latin typeface="Calibri"/>
                <a:hlinkClick r:id="rId16"/>
              </a:rPr>
              <a:t>scikit-learn (Decision Trees)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2C55E"/>
                </a:solidFill>
              </a:rPr>
              <a:t>●  </a:t>
            </a:r>
            <a:r>
              <a:rPr sz="1100" b="1" u="sng">
                <a:solidFill>
                  <a:srgbClr val="1B2A4A"/>
                </a:solidFill>
                <a:latin typeface="Calibri"/>
                <a:hlinkClick r:id="rId17"/>
              </a:rPr>
              <a:t>mlxtend (Apriori, association rules)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2C55E"/>
                </a:solidFill>
              </a:rPr>
              <a:t>●  </a:t>
            </a:r>
            <a:r>
              <a:rPr sz="1100" b="1" u="sng">
                <a:solidFill>
                  <a:srgbClr val="1B2A4A"/>
                </a:solidFill>
                <a:latin typeface="Calibri"/>
                <a:hlinkClick r:id="rId18"/>
              </a:rPr>
              <a:t>pandas (data manipulation)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2C55E"/>
                </a:solidFill>
              </a:rPr>
              <a:t>●  </a:t>
            </a:r>
            <a:r>
              <a:rPr sz="1100" b="1" u="sng">
                <a:solidFill>
                  <a:srgbClr val="1B2A4A"/>
                </a:solidFill>
                <a:latin typeface="Calibri"/>
                <a:hlinkClick r:id="rId19"/>
              </a:rPr>
              <a:t>Jupyter (CRISP-DM notebooks)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2C55E"/>
                </a:solidFill>
              </a:rPr>
              <a:t>●  </a:t>
            </a:r>
            <a:r>
              <a:rPr sz="1100" b="1" u="sng">
                <a:solidFill>
                  <a:srgbClr val="1B2A4A"/>
                </a:solidFill>
                <a:latin typeface="Calibri"/>
                <a:hlinkClick r:id="rId3"/>
              </a:rPr>
              <a:t>CRISP-DM 1.0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54864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See ACADEMIC_METHOD_JUSTIFICATION.md for full per-W argumentation.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VacuTech · DLMDSEBA02 · BI &amp; Data Mining (Phase 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519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